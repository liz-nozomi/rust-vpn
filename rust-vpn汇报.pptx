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3"/>
    <p:sldId id="307" r:id="rId4"/>
    <p:sldId id="366" r:id="rId5"/>
    <p:sldId id="347" r:id="rId6"/>
    <p:sldId id="348" r:id="rId8"/>
    <p:sldId id="349" r:id="rId9"/>
    <p:sldId id="350" r:id="rId10"/>
    <p:sldId id="352" r:id="rId11"/>
    <p:sldId id="353" r:id="rId12"/>
    <p:sldId id="355" r:id="rId13"/>
    <p:sldId id="356" r:id="rId14"/>
    <p:sldId id="359" r:id="rId15"/>
    <p:sldId id="360" r:id="rId16"/>
    <p:sldId id="358" r:id="rId17"/>
    <p:sldId id="361" r:id="rId18"/>
    <p:sldId id="362" r:id="rId19"/>
    <p:sldId id="363" r:id="rId20"/>
    <p:sldId id="364" r:id="rId21"/>
    <p:sldId id="365" r:id="rId22"/>
    <p:sldId id="367" r:id="rId23"/>
    <p:sldId id="368" r:id="rId24"/>
    <p:sldId id="369" r:id="rId25"/>
    <p:sldId id="33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88"/>
    <a:srgbClr val="8994BD"/>
    <a:srgbClr val="96A2D0"/>
    <a:srgbClr val="93BFF5"/>
    <a:srgbClr val="E6E6E6"/>
    <a:srgbClr val="3A6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6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BC71-470F-4178-8939-B7F43C998C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F53EF-5364-44E3-BFA2-84231755F7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563933" y="5388248"/>
            <a:ext cx="2332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汇报人：</a:t>
            </a:r>
            <a:r>
              <a:rPr lang="zh-CN" altLang="en-US" sz="2400" b="1" dirty="0"/>
              <a:t>刘天豪</a:t>
            </a:r>
            <a:endParaRPr lang="zh-CN" altLang="en-US" sz="24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5473389" y="5388248"/>
            <a:ext cx="404519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时间：</a:t>
            </a:r>
            <a:r>
              <a:rPr lang="en-US" altLang="zh-CN" sz="2400" b="1" dirty="0"/>
              <a:t>2025.12.30</a:t>
            </a:r>
            <a:endParaRPr lang="en-US" altLang="zh-CN" sz="2400" b="1" dirty="0"/>
          </a:p>
        </p:txBody>
      </p:sp>
      <p:sp>
        <p:nvSpPr>
          <p:cNvPr id="21" name="矩形 20"/>
          <p:cNvSpPr/>
          <p:nvPr/>
        </p:nvSpPr>
        <p:spPr>
          <a:xfrm>
            <a:off x="4466904" y="2588017"/>
            <a:ext cx="3258185" cy="181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56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rust-vpn</a:t>
            </a:r>
            <a:endParaRPr lang="en-US" altLang="zh-CN" sz="56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en-US" altLang="zh-CN" sz="56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0" y="3715132"/>
            <a:ext cx="1219200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 spc="100" dirty="0">
                <a:solidFill>
                  <a:schemeClr val="bg1"/>
                </a:solidFill>
                <a:latin typeface="Georgia" panose="02040502050405090303" pitchFamily="18" charset="0"/>
                <a:cs typeface="Arial" panose="020B0604020202090204" pitchFamily="34" charset="0"/>
              </a:rPr>
              <a:t>系统软件开发实践课程</a:t>
            </a:r>
            <a:r>
              <a:rPr lang="zh-CN" altLang="en-US" sz="2600" b="1" spc="100" dirty="0">
                <a:solidFill>
                  <a:schemeClr val="bg1"/>
                </a:solidFill>
                <a:latin typeface="Georgia" panose="02040502050405090303" pitchFamily="18" charset="0"/>
                <a:cs typeface="Arial" panose="020B0604020202090204" pitchFamily="34" charset="0"/>
              </a:rPr>
              <a:t>大作业</a:t>
            </a:r>
            <a:endParaRPr lang="zh-CN" altLang="en-US" sz="2600" b="1" spc="100" dirty="0">
              <a:solidFill>
                <a:schemeClr val="bg1"/>
              </a:solidFill>
              <a:latin typeface="Georgia" panose="02040502050405090303" pitchFamily="18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" y="0"/>
            <a:ext cx="4432397" cy="68580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88" y="-132623"/>
            <a:ext cx="3947419" cy="13820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8901" y="2668728"/>
            <a:ext cx="2254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</a:rPr>
              <a:t>目  录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20076" y="3941730"/>
            <a:ext cx="187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9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9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0546" y="2927691"/>
            <a:ext cx="254121" cy="405405"/>
            <a:chOff x="872368" y="2932651"/>
            <a:chExt cx="289004" cy="461055"/>
          </a:xfrm>
          <a:solidFill>
            <a:schemeClr val="bg1">
              <a:alpha val="25000"/>
            </a:schemeClr>
          </a:solidFill>
        </p:grpSpPr>
        <p:sp>
          <p:nvSpPr>
            <p:cNvPr id="7" name="梯形 6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555838" y="3738315"/>
            <a:ext cx="3320716" cy="45719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6229562" y="857149"/>
            <a:ext cx="5686546" cy="1015663"/>
            <a:chOff x="5399714" y="1249447"/>
            <a:chExt cx="5686546" cy="1015663"/>
          </a:xfrm>
        </p:grpSpPr>
        <p:grpSp>
          <p:nvGrpSpPr>
            <p:cNvPr id="37" name="组合 36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18" name="矩形: 对角圆角 17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1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客户端</a:t>
              </a:r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设计</a:t>
              </a:r>
              <a:endParaRPr lang="zh-CN" altLang="en-US" sz="4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229562" y="2230915"/>
            <a:ext cx="5686546" cy="1015663"/>
            <a:chOff x="5399714" y="1249447"/>
            <a:chExt cx="5686546" cy="1015663"/>
          </a:xfrm>
        </p:grpSpPr>
        <p:grpSp>
          <p:nvGrpSpPr>
            <p:cNvPr id="21" name="组合 20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3" name="矩形: 对角圆角 22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2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服务端</a:t>
              </a:r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设计</a:t>
              </a:r>
              <a:endParaRPr lang="zh-CN" altLang="en-US" sz="4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229562" y="3604681"/>
            <a:ext cx="5686546" cy="1015663"/>
            <a:chOff x="5399714" y="1249447"/>
            <a:chExt cx="5686546" cy="1015663"/>
          </a:xfrm>
        </p:grpSpPr>
        <p:grpSp>
          <p:nvGrpSpPr>
            <p:cNvPr id="26" name="组合 25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28" name="矩形: 对角圆角 27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3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密码学</a:t>
              </a:r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栈</a:t>
              </a:r>
              <a:endParaRPr lang="zh-CN" altLang="en-US" sz="4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229562" y="4978447"/>
            <a:ext cx="5686546" cy="1015663"/>
            <a:chOff x="5399714" y="1249447"/>
            <a:chExt cx="5686546" cy="1015663"/>
          </a:xfrm>
        </p:grpSpPr>
        <p:grpSp>
          <p:nvGrpSpPr>
            <p:cNvPr id="31" name="组合 30"/>
            <p:cNvGrpSpPr/>
            <p:nvPr/>
          </p:nvGrpSpPr>
          <p:grpSpPr>
            <a:xfrm>
              <a:off x="5399714" y="1249447"/>
              <a:ext cx="770179" cy="1015663"/>
              <a:chOff x="5399714" y="1249447"/>
              <a:chExt cx="770179" cy="1015663"/>
            </a:xfrm>
          </p:grpSpPr>
          <p:sp>
            <p:nvSpPr>
              <p:cNvPr id="33" name="矩形: 对角圆角 32"/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473607" y="1249447"/>
                <a:ext cx="69628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6000" b="1" i="1" dirty="0">
                    <a:latin typeface="Arial" panose="020B0604020202090204" pitchFamily="34" charset="0"/>
                    <a:ea typeface="黑体" panose="02010609060101010101" pitchFamily="49" charset="-122"/>
                    <a:cs typeface="Arial" panose="020B0604020202090204" pitchFamily="34" charset="0"/>
                  </a:rPr>
                  <a:t>4</a:t>
                </a:r>
                <a:endParaRPr lang="zh-CN" altLang="en-US" sz="6000" b="1" i="1" dirty="0">
                  <a:latin typeface="Arial" panose="020B0604020202090204" pitchFamily="34" charset="0"/>
                  <a:ea typeface="黑体" panose="02010609060101010101" pitchFamily="49" charset="-122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6388425" y="1380521"/>
              <a:ext cx="4697835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4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协议</a:t>
              </a:r>
              <a:endParaRPr lang="zh-CN" altLang="en-US" sz="4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-160343" y="1201274"/>
            <a:ext cx="4408441" cy="5899957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0" spc="300" dirty="0">
                <a:latin typeface="黑体" panose="02010609060101010101" pitchFamily="49" charset="-122"/>
                <a:ea typeface="黑体" panose="02010609060101010101" pitchFamily="49" charset="-122"/>
              </a:rPr>
              <a:t>应用程序</a:t>
            </a:r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161" y="269066"/>
            <a:ext cx="204520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架构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6473" y="1365769"/>
            <a:ext cx="11074400" cy="4984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1423035"/>
            <a:ext cx="5564505" cy="28930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39865" y="1565275"/>
            <a:ext cx="5191125" cy="4662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使用</a:t>
            </a:r>
            <a:r>
              <a:rPr lang="en-US" altLang="zh-CN"/>
              <a:t>rust workspace，</a:t>
            </a:r>
            <a:r>
              <a:rPr lang="zh-CN" altLang="en-US"/>
              <a:t>创建了三个</a:t>
            </a:r>
            <a:r>
              <a:rPr lang="en-US" altLang="zh-CN"/>
              <a:t>crate，</a:t>
            </a:r>
            <a:r>
              <a:rPr lang="zh-CN" altLang="en-US"/>
              <a:t>一个</a:t>
            </a:r>
            <a:r>
              <a:rPr lang="en-US" altLang="zh-CN"/>
              <a:t>vpn_core</a:t>
            </a:r>
            <a:r>
              <a:rPr lang="zh-CN" altLang="en-US"/>
              <a:t>库来共享代码</a:t>
            </a:r>
            <a:r>
              <a:rPr lang="en-US" altLang="zh-CN"/>
              <a:t>，</a:t>
            </a:r>
            <a:r>
              <a:rPr lang="zh-CN" altLang="en-US"/>
              <a:t>两个应用区分</a:t>
            </a:r>
            <a:r>
              <a:rPr lang="en-US" altLang="zh-CN"/>
              <a:t>server</a:t>
            </a:r>
            <a:r>
              <a:rPr lang="zh-CN" altLang="en-US"/>
              <a:t>和</a:t>
            </a:r>
            <a:r>
              <a:rPr lang="en-US" altLang="zh-CN"/>
              <a:t>client。</a:t>
            </a:r>
            <a:endParaRPr lang="en-US" altLang="zh-CN"/>
          </a:p>
          <a:p>
            <a:r>
              <a:rPr lang="zh-CN" altLang="en-US"/>
              <a:t>在整个项目的</a:t>
            </a:r>
            <a:r>
              <a:rPr lang="en-US" altLang="zh-CN"/>
              <a:t>Cargo.toml</a:t>
            </a:r>
            <a:r>
              <a:rPr lang="zh-CN" altLang="en-US"/>
              <a:t>中写入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[workspace]</a:t>
            </a:r>
            <a:endParaRPr lang="en-US" altLang="zh-CN"/>
          </a:p>
          <a:p>
            <a:r>
              <a:rPr lang="en-US" altLang="zh-CN"/>
              <a:t>resolver = "2"</a:t>
            </a:r>
            <a:endParaRPr lang="en-US" altLang="zh-CN"/>
          </a:p>
          <a:p>
            <a:r>
              <a:rPr lang="en-US" altLang="zh-CN"/>
              <a:t>members = [</a:t>
            </a:r>
            <a:endParaRPr lang="en-US" altLang="zh-CN"/>
          </a:p>
          <a:p>
            <a:r>
              <a:rPr lang="en-US" altLang="zh-CN"/>
              <a:t>    "vpn_core",</a:t>
            </a:r>
            <a:endParaRPr lang="en-US" altLang="zh-CN"/>
          </a:p>
          <a:p>
            <a:r>
              <a:rPr lang="en-US" altLang="zh-CN"/>
              <a:t>    "vpn_client",</a:t>
            </a:r>
            <a:endParaRPr lang="en-US" altLang="zh-CN"/>
          </a:p>
          <a:p>
            <a:r>
              <a:rPr lang="en-US" altLang="zh-CN"/>
              <a:t>    "vpn_server",</a:t>
            </a:r>
            <a:endParaRPr lang="en-US" altLang="zh-CN"/>
          </a:p>
          <a:p>
            <a:r>
              <a:rPr lang="en-US" altLang="zh-CN"/>
              <a:t>]</a:t>
            </a:r>
            <a:endParaRPr lang="en-US" altLang="zh-CN"/>
          </a:p>
          <a:p>
            <a:r>
              <a:rPr lang="zh-CN" altLang="en-US"/>
              <a:t>然后在每个</a:t>
            </a:r>
            <a:r>
              <a:rPr lang="en-US" altLang="zh-CN"/>
              <a:t>crate</a:t>
            </a:r>
            <a:r>
              <a:rPr lang="zh-CN" altLang="en-US"/>
              <a:t>里写</a:t>
            </a:r>
            <a:endParaRPr lang="zh-CN" altLang="en-US"/>
          </a:p>
          <a:p>
            <a:r>
              <a:rPr lang="en-US" altLang="zh-CN"/>
              <a:t>[package]</a:t>
            </a:r>
            <a:endParaRPr lang="en-US" altLang="zh-CN"/>
          </a:p>
          <a:p>
            <a:r>
              <a:rPr lang="en-US" altLang="zh-CN"/>
              <a:t>name = "vpn_core"</a:t>
            </a:r>
            <a:endParaRPr lang="zh-CN" altLang="en-US"/>
          </a:p>
          <a:p>
            <a:r>
              <a:rPr lang="zh-CN" altLang="en-US"/>
              <a:t>即可完成组建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20725" y="4848225"/>
            <a:ext cx="50012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本项目通过一些</a:t>
            </a:r>
            <a:endParaRPr lang="zh-CN" altLang="en-US"/>
          </a:p>
          <a:p>
            <a:r>
              <a:rPr lang="en-US" altLang="zh-CN"/>
              <a:t>#[cfg(target_os = "macos")]</a:t>
            </a:r>
            <a:endParaRPr lang="en-US" altLang="zh-CN"/>
          </a:p>
          <a:p>
            <a:r>
              <a:rPr lang="en-US" altLang="zh-CN"/>
              <a:t>#[cfg(target_os = "linux")]</a:t>
            </a:r>
            <a:endParaRPr lang="en-US" altLang="zh-CN"/>
          </a:p>
          <a:p>
            <a:r>
              <a:rPr lang="zh-CN" altLang="en-US"/>
              <a:t>来完成了客户端对</a:t>
            </a:r>
            <a:r>
              <a:rPr lang="en-US" altLang="zh-CN"/>
              <a:t>macOS</a:t>
            </a:r>
            <a:r>
              <a:rPr lang="zh-CN" altLang="en-US"/>
              <a:t>和</a:t>
            </a:r>
            <a:r>
              <a:rPr lang="en-US" altLang="zh-CN"/>
              <a:t>Linux</a:t>
            </a:r>
            <a:r>
              <a:rPr lang="zh-CN" altLang="en-US"/>
              <a:t>的跨平台支持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3387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启动流程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" y="1546860"/>
            <a:ext cx="6258560" cy="51581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94970" y="1100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客户端</a:t>
            </a:r>
            <a:r>
              <a:rPr lang="en-US" altLang="zh-CN"/>
              <a:t>：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7818120" y="1029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服务端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0" y="38735"/>
            <a:ext cx="3070860" cy="6819265"/>
          </a:xfrm>
          <a:prstGeom prst="rect">
            <a:avLst/>
          </a:prstGeom>
        </p:spPr>
      </p:pic>
      <p:cxnSp>
        <p:nvCxnSpPr>
          <p:cNvPr id="20" name="直接连接符 19"/>
          <p:cNvCxnSpPr/>
          <p:nvPr/>
        </p:nvCxnSpPr>
        <p:spPr>
          <a:xfrm>
            <a:off x="2538095" y="2353945"/>
            <a:ext cx="6628130" cy="516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3514090" y="2882265"/>
            <a:ext cx="5720715" cy="459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813175" y="3778250"/>
            <a:ext cx="5306695" cy="241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6420485" y="4192270"/>
            <a:ext cx="2872105" cy="9994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异步通信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6473" y="1365769"/>
            <a:ext cx="11074400" cy="4984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20725" y="1550035"/>
            <a:ext cx="5955665" cy="3183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本项目完全异步</a:t>
            </a:r>
            <a:r>
              <a:rPr lang="en-US" altLang="zh-CN"/>
              <a:t>，</a:t>
            </a:r>
            <a:r>
              <a:rPr lang="zh-CN" altLang="en-US"/>
              <a:t>通过</a:t>
            </a:r>
            <a:r>
              <a:rPr lang="en-US" altLang="zh-CN"/>
              <a:t>tokio</a:t>
            </a:r>
            <a:r>
              <a:rPr lang="zh-CN" altLang="en-US"/>
              <a:t>库来完成高性能的网络</a:t>
            </a:r>
            <a:r>
              <a:rPr lang="en-US" altLang="zh-CN"/>
              <a:t>I/</a:t>
            </a:r>
            <a:r>
              <a:rPr lang="en-US" altLang="zh-CN"/>
              <a:t>O。</a:t>
            </a:r>
            <a:endParaRPr lang="en-US" altLang="zh-CN"/>
          </a:p>
          <a:p>
            <a:r>
              <a:rPr lang="zh-CN" altLang="en-US"/>
              <a:t>关键异步组件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2281555"/>
            <a:ext cx="5486400" cy="24511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88695" y="515112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TUN</a:t>
            </a:r>
            <a:r>
              <a:rPr lang="zh-CN" altLang="en-US"/>
              <a:t>异步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385" y="4957445"/>
            <a:ext cx="6794500" cy="7112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27825" y="1677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UDP Socket</a:t>
            </a:r>
            <a:r>
              <a:rPr lang="zh-CN" altLang="en-US"/>
              <a:t>共享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20" y="2045970"/>
            <a:ext cx="5230495" cy="1484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通信逻辑</a:t>
            </a:r>
            <a:endParaRPr lang="en-US" altLang="zh-CN" sz="2800" b="1" dirty="0">
              <a:solidFill>
                <a:srgbClr val="003F88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" y="845185"/>
            <a:ext cx="7471410" cy="6000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客户端</a:t>
            </a:r>
            <a:r>
              <a:rPr lang="zh-CN" altLang="en-US" sz="2800" b="1" dirty="0">
                <a:solidFill>
                  <a:srgbClr val="003F88"/>
                </a:solidFill>
              </a:rPr>
              <a:t>设计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3380" y="893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关键</a:t>
            </a:r>
            <a:r>
              <a:rPr lang="zh-CN" altLang="en-US"/>
              <a:t>常量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1393190"/>
            <a:ext cx="4848225" cy="196469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32740" y="3580130"/>
            <a:ext cx="4848225" cy="2696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预共享密钥是原来的对称加密密钥</a:t>
            </a:r>
            <a:r>
              <a:rPr lang="en-US" altLang="zh-CN"/>
              <a:t>。</a:t>
            </a:r>
            <a:r>
              <a:rPr lang="zh-CN" altLang="en-US"/>
              <a:t>在开发过程中</a:t>
            </a:r>
            <a:r>
              <a:rPr lang="en-US" altLang="zh-CN"/>
              <a:t>，</a:t>
            </a:r>
            <a:r>
              <a:rPr lang="zh-CN" altLang="en-US"/>
              <a:t>在非对称密钥协商还没写完的时候用来凑合</a:t>
            </a:r>
            <a:r>
              <a:rPr lang="en-US" altLang="zh-CN"/>
              <a:t>。</a:t>
            </a:r>
            <a:r>
              <a:rPr lang="zh-CN" altLang="en-US"/>
              <a:t>现在是对称加密密钥的一部分</a:t>
            </a:r>
            <a:r>
              <a:rPr lang="en-US" altLang="zh-CN"/>
              <a:t>，</a:t>
            </a:r>
            <a:r>
              <a:rPr lang="zh-CN" altLang="en-US"/>
              <a:t>用来作为额外常数</a:t>
            </a:r>
            <a:r>
              <a:rPr lang="en-US" altLang="zh-CN"/>
              <a:t>，</a:t>
            </a:r>
            <a:r>
              <a:rPr lang="zh-CN" altLang="en-US"/>
              <a:t>不影响任何安全性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这部分还可以扩展成账号密码登陆后的</a:t>
            </a:r>
            <a:r>
              <a:rPr lang="en-US" altLang="zh-CN"/>
              <a:t>token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TUN</a:t>
            </a:r>
            <a:r>
              <a:rPr lang="zh-CN" altLang="en-US"/>
              <a:t>头部</a:t>
            </a:r>
            <a:r>
              <a:rPr lang="en-US" altLang="zh-CN"/>
              <a:t>：</a:t>
            </a:r>
            <a:r>
              <a:rPr lang="zh-CN" altLang="en-US"/>
              <a:t>为了区分</a:t>
            </a:r>
            <a:r>
              <a:rPr lang="en-US" altLang="zh-CN"/>
              <a:t>IP</a:t>
            </a:r>
            <a:r>
              <a:rPr lang="zh-CN" altLang="en-US"/>
              <a:t>版本</a:t>
            </a:r>
            <a:r>
              <a:rPr lang="en-US" altLang="zh-CN"/>
              <a:t>，macOS</a:t>
            </a:r>
            <a:r>
              <a:rPr lang="zh-CN" altLang="en-US"/>
              <a:t>和</a:t>
            </a:r>
            <a:r>
              <a:rPr lang="en-US" altLang="zh-CN"/>
              <a:t>Linux</a:t>
            </a:r>
            <a:r>
              <a:rPr lang="zh-CN" altLang="en-US"/>
              <a:t>用了不同的数据结构</a:t>
            </a:r>
            <a:r>
              <a:rPr lang="en-US" altLang="zh-CN"/>
              <a:t>，</a:t>
            </a:r>
            <a:r>
              <a:rPr lang="zh-CN" altLang="en-US"/>
              <a:t>所以要用不同的</a:t>
            </a:r>
            <a:r>
              <a:rPr lang="en-US" altLang="zh-CN"/>
              <a:t>offset</a:t>
            </a:r>
            <a:r>
              <a:rPr lang="zh-CN" altLang="en-US"/>
              <a:t>来正确读取数据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5180965" y="893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在隧道模式下</a:t>
            </a:r>
            <a:r>
              <a:rPr lang="en-US" altLang="zh-CN"/>
              <a:t>，</a:t>
            </a:r>
            <a:r>
              <a:rPr lang="zh-CN" altLang="en-US"/>
              <a:t>保存原有</a:t>
            </a:r>
            <a:r>
              <a:rPr lang="zh-CN" altLang="en-US"/>
              <a:t>路由</a:t>
            </a:r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170" y="1209675"/>
            <a:ext cx="4831080" cy="125285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180965" y="2440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</a:t>
            </a:r>
            <a:r>
              <a:rPr lang="zh-CN" altLang="en-US"/>
              <a:t>创建</a:t>
            </a:r>
            <a:r>
              <a:rPr lang="en-US" altLang="zh-CN"/>
              <a:t>UDP</a:t>
            </a:r>
            <a:r>
              <a:rPr lang="zh-CN" altLang="en-US"/>
              <a:t>通道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965" y="2846070"/>
            <a:ext cx="4236085" cy="51244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121275" y="3429000"/>
            <a:ext cx="5036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以后的一切数据</a:t>
            </a:r>
            <a:r>
              <a:rPr lang="zh-CN" altLang="en-US"/>
              <a:t>通信都是在这个</a:t>
            </a:r>
            <a:r>
              <a:rPr lang="en-US" altLang="zh-CN"/>
              <a:t>UDP</a:t>
            </a:r>
            <a:r>
              <a:rPr lang="zh-CN" altLang="en-US"/>
              <a:t>通道上进行</a:t>
            </a:r>
            <a:r>
              <a:rPr lang="en-US" altLang="zh-CN"/>
              <a:t>。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5180965" y="3742055"/>
            <a:ext cx="4977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 </a:t>
            </a:r>
            <a:r>
              <a:rPr lang="zh-CN" altLang="en-US"/>
              <a:t>执行握手协议</a:t>
            </a:r>
            <a:r>
              <a:rPr lang="en-US" altLang="zh-CN"/>
              <a:t>：</a:t>
            </a:r>
            <a:r>
              <a:rPr lang="zh-CN" altLang="en-US"/>
              <a:t>这部分会在后面详细描述</a:t>
            </a:r>
            <a:r>
              <a:rPr lang="en-US" altLang="zh-CN"/>
              <a:t>。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5180965" y="4121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 </a:t>
            </a:r>
            <a:r>
              <a:rPr lang="zh-CN" altLang="en-US"/>
              <a:t>创建</a:t>
            </a:r>
            <a:r>
              <a:rPr lang="en-US" altLang="zh-CN"/>
              <a:t>TUN</a:t>
            </a:r>
            <a:r>
              <a:rPr lang="zh-CN" altLang="en-US"/>
              <a:t>设备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0965" y="4484370"/>
            <a:ext cx="6704330" cy="1424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客户端</a:t>
            </a:r>
            <a:r>
              <a:rPr lang="zh-CN" altLang="en-US" sz="2800" b="1" dirty="0">
                <a:solidFill>
                  <a:srgbClr val="003F88"/>
                </a:solidFill>
              </a:rPr>
              <a:t>设计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410" y="845185"/>
            <a:ext cx="390207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6. TUN</a:t>
            </a:r>
            <a:r>
              <a:rPr lang="zh-CN" altLang="en-US"/>
              <a:t>设备本质上是一个工作在三层的虚拟网卡</a:t>
            </a:r>
            <a:r>
              <a:rPr lang="en-US" altLang="zh-CN"/>
              <a:t>，</a:t>
            </a:r>
            <a:r>
              <a:rPr lang="zh-CN" altLang="en-US"/>
              <a:t>一头是应用程序</a:t>
            </a:r>
            <a:r>
              <a:rPr lang="en-US" altLang="zh-CN"/>
              <a:t>，</a:t>
            </a:r>
            <a:r>
              <a:rPr lang="zh-CN" altLang="en-US"/>
              <a:t>一头连接着操作系统的一个物理网络设备</a:t>
            </a:r>
            <a:r>
              <a:rPr lang="en-US" altLang="zh-CN"/>
              <a:t>。（</a:t>
            </a:r>
            <a:r>
              <a:rPr lang="zh-CN" altLang="en-US"/>
              <a:t>其实下一个</a:t>
            </a:r>
            <a:r>
              <a:rPr lang="en-US" altLang="zh-CN"/>
              <a:t>TUN</a:t>
            </a:r>
            <a:r>
              <a:rPr lang="zh-CN" altLang="en-US"/>
              <a:t>网卡也不是不行</a:t>
            </a:r>
            <a:r>
              <a:rPr lang="en-US" altLang="zh-CN"/>
              <a:t>）</a:t>
            </a:r>
            <a:endParaRPr lang="en-US" altLang="zh-CN"/>
          </a:p>
          <a:p>
            <a:r>
              <a:rPr lang="zh-CN" altLang="en-US"/>
              <a:t>我们可以直接改写路由表</a:t>
            </a:r>
            <a:r>
              <a:rPr lang="en-US" altLang="zh-CN"/>
              <a:t>，</a:t>
            </a:r>
            <a:r>
              <a:rPr lang="zh-CN" altLang="en-US"/>
              <a:t>把所有的流量扔到这个新的网卡里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但是注意此刻问题</a:t>
            </a:r>
            <a:r>
              <a:rPr lang="en-US" altLang="zh-CN"/>
              <a:t>：</a:t>
            </a:r>
            <a:r>
              <a:rPr lang="zh-CN" altLang="en-US"/>
              <a:t>通向服务器的</a:t>
            </a:r>
            <a:r>
              <a:rPr lang="en-US" altLang="zh-CN"/>
              <a:t>UDP</a:t>
            </a:r>
            <a:r>
              <a:rPr lang="zh-CN" altLang="en-US"/>
              <a:t>链接一定不能被打断</a:t>
            </a:r>
            <a:r>
              <a:rPr lang="en-US" altLang="zh-CN"/>
              <a:t>，</a:t>
            </a:r>
            <a:r>
              <a:rPr lang="zh-CN" altLang="en-US"/>
              <a:t>否则这时候</a:t>
            </a:r>
            <a:r>
              <a:rPr lang="en-US" altLang="zh-CN"/>
              <a:t>VPN</a:t>
            </a:r>
            <a:r>
              <a:rPr lang="zh-CN" altLang="en-US"/>
              <a:t>就挂了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用计网的观点来看</a:t>
            </a:r>
            <a:r>
              <a:rPr lang="en-US" altLang="zh-CN"/>
              <a:t>，</a:t>
            </a:r>
            <a:r>
              <a:rPr lang="zh-CN" altLang="en-US"/>
              <a:t>这个</a:t>
            </a:r>
            <a:r>
              <a:rPr lang="en-US" altLang="zh-CN"/>
              <a:t>VPN</a:t>
            </a:r>
            <a:r>
              <a:rPr lang="zh-CN" altLang="en-US"/>
              <a:t>就是在传输层之上再搭建一个网络接口层</a:t>
            </a:r>
            <a:r>
              <a:rPr lang="en-US" altLang="zh-CN"/>
              <a:t>。</a:t>
            </a:r>
            <a:r>
              <a:rPr lang="zh-CN" altLang="en-US"/>
              <a:t>所以必须要有例外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这里直接暴力使用了一个</a:t>
            </a:r>
            <a:r>
              <a:rPr lang="en-US" altLang="zh-CN"/>
              <a:t>cmd</a:t>
            </a:r>
            <a:r>
              <a:rPr lang="zh-CN" altLang="en-US"/>
              <a:t>改的路由表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50" y="987425"/>
            <a:ext cx="8104505" cy="4316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客户端</a:t>
            </a:r>
            <a:r>
              <a:rPr lang="zh-CN" altLang="en-US" sz="2800" b="1" dirty="0">
                <a:solidFill>
                  <a:srgbClr val="003F88"/>
                </a:solidFill>
              </a:rPr>
              <a:t>设计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9865" y="845185"/>
            <a:ext cx="5759450" cy="5920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7. </a:t>
            </a:r>
            <a:r>
              <a:rPr lang="zh-CN" altLang="en-US"/>
              <a:t>需要修改系统路由表</a:t>
            </a:r>
            <a:r>
              <a:rPr lang="en-US" altLang="zh-CN"/>
              <a:t>，</a:t>
            </a:r>
            <a:r>
              <a:rPr lang="zh-CN" altLang="en-US"/>
              <a:t>来把默认的网络流量塞到这个新的虚拟网卡</a:t>
            </a:r>
            <a:r>
              <a:rPr lang="en-US" altLang="zh-CN"/>
              <a:t>（TUN）</a:t>
            </a:r>
            <a:r>
              <a:rPr lang="zh-CN" altLang="en-US"/>
              <a:t>里面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其实也是用</a:t>
            </a:r>
            <a:r>
              <a:rPr lang="en-US" altLang="zh-CN"/>
              <a:t>route</a:t>
            </a:r>
            <a:r>
              <a:rPr lang="zh-CN" altLang="en-US"/>
              <a:t>指令实现的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逻辑为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 1. </a:t>
            </a:r>
            <a:r>
              <a:rPr lang="zh-CN" altLang="en-US"/>
              <a:t>添加服务器路由例外（避免递归）</a:t>
            </a:r>
            <a:endParaRPr lang="zh-CN" altLang="en-US"/>
          </a:p>
          <a:p>
            <a:r>
              <a:rPr lang="en-US" altLang="zh-CN"/>
              <a:t>route add &lt;server_ip&gt; &lt;</a:t>
            </a:r>
            <a:r>
              <a:rPr lang="zh-CN" altLang="en-US"/>
              <a:t>原网关</a:t>
            </a:r>
            <a:r>
              <a:rPr lang="en-US" altLang="zh-CN"/>
              <a:t>&gt;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2. </a:t>
            </a:r>
            <a:r>
              <a:rPr lang="zh-CN" altLang="en-US"/>
              <a:t>删除旧默认路由</a:t>
            </a:r>
            <a:endParaRPr lang="zh-CN" altLang="en-US"/>
          </a:p>
          <a:p>
            <a:r>
              <a:rPr lang="en-US" altLang="zh-CN"/>
              <a:t>route delete default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3. </a:t>
            </a:r>
            <a:r>
              <a:rPr lang="zh-CN" altLang="en-US"/>
              <a:t>设置</a:t>
            </a:r>
            <a:r>
              <a:rPr lang="en-US" altLang="zh-CN"/>
              <a:t> VPN </a:t>
            </a:r>
            <a:r>
              <a:rPr lang="zh-CN" altLang="en-US"/>
              <a:t>为默认路由</a:t>
            </a:r>
            <a:endParaRPr lang="zh-CN" altLang="en-US"/>
          </a:p>
          <a:p>
            <a:r>
              <a:rPr lang="en-US" altLang="zh-CN"/>
              <a:t>route add default 10.0.0.1</a:t>
            </a:r>
            <a:endParaRPr lang="en-US" altLang="zh-CN"/>
          </a:p>
          <a:p>
            <a:r>
              <a:rPr lang="zh-CN" altLang="en-US"/>
              <a:t>同时这里保存了系统默认路由</a:t>
            </a:r>
            <a:r>
              <a:rPr lang="en-US" altLang="zh-CN"/>
              <a:t>。</a:t>
            </a:r>
            <a:r>
              <a:rPr lang="zh-CN" altLang="en-US"/>
              <a:t>如果</a:t>
            </a:r>
            <a:r>
              <a:rPr lang="en-US" altLang="zh-CN"/>
              <a:t>ctrl-c</a:t>
            </a:r>
            <a:r>
              <a:rPr lang="zh-CN" altLang="en-US"/>
              <a:t>结束</a:t>
            </a:r>
            <a:r>
              <a:rPr lang="en-US" altLang="zh-CN"/>
              <a:t>VPN</a:t>
            </a:r>
            <a:r>
              <a:rPr lang="zh-CN" altLang="en-US"/>
              <a:t>程序</a:t>
            </a:r>
            <a:r>
              <a:rPr lang="en-US" altLang="zh-CN"/>
              <a:t>，</a:t>
            </a:r>
            <a:r>
              <a:rPr lang="zh-CN" altLang="en-US"/>
              <a:t>路由表是不会自动恢复的</a:t>
            </a:r>
            <a:r>
              <a:rPr lang="en-US" altLang="zh-CN"/>
              <a:t>，</a:t>
            </a:r>
            <a:r>
              <a:rPr lang="zh-CN" altLang="en-US"/>
              <a:t>结果就是需要重开网络才能重新联网</a:t>
            </a:r>
            <a:r>
              <a:rPr lang="en-US" altLang="zh-CN"/>
              <a:t>。</a:t>
            </a:r>
            <a:r>
              <a:rPr lang="zh-CN" altLang="en-US"/>
              <a:t>这里注册了一个</a:t>
            </a:r>
            <a:r>
              <a:rPr lang="en-US" altLang="zh-CN"/>
              <a:t>ctrl-c</a:t>
            </a:r>
            <a:r>
              <a:rPr lang="zh-CN" altLang="en-US"/>
              <a:t>路由恢复</a:t>
            </a:r>
            <a:r>
              <a:rPr lang="en-US" altLang="zh-CN"/>
              <a:t>。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85" y="964565"/>
            <a:ext cx="5245100" cy="20281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460" y="2879725"/>
            <a:ext cx="4857750" cy="3978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220" y="5106035"/>
            <a:ext cx="4003040" cy="1659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客户端</a:t>
            </a:r>
            <a:r>
              <a:rPr lang="zh-CN" altLang="en-US" sz="2800" b="1" dirty="0">
                <a:solidFill>
                  <a:srgbClr val="003F88"/>
                </a:solidFill>
              </a:rPr>
              <a:t>设计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410" y="845185"/>
            <a:ext cx="3902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8. </a:t>
            </a:r>
            <a:r>
              <a:rPr lang="zh-CN" altLang="en-US"/>
              <a:t>上下行链路连接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45" y="2530475"/>
            <a:ext cx="5419090" cy="39846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32740" y="1231900"/>
            <a:ext cx="112153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上行</a:t>
            </a:r>
            <a:r>
              <a:rPr lang="en-US" altLang="zh-CN"/>
              <a:t>：</a:t>
            </a:r>
            <a:r>
              <a:rPr lang="en-US" altLang="zh-CN"/>
              <a:t>TUN-&gt;UDP-&gt;Server</a:t>
            </a:r>
            <a:endParaRPr lang="en-US" altLang="zh-CN"/>
          </a:p>
          <a:p>
            <a:r>
              <a:rPr lang="zh-CN" altLang="en-US"/>
              <a:t>下行</a:t>
            </a:r>
            <a:r>
              <a:rPr lang="en-US" altLang="zh-CN"/>
              <a:t>：Server-&gt;UDP-&gt;TUN</a:t>
            </a:r>
            <a:endParaRPr lang="en-US" altLang="zh-CN"/>
          </a:p>
          <a:p>
            <a:r>
              <a:rPr lang="zh-CN" altLang="en-US"/>
              <a:t>可以理解为一个循环</a:t>
            </a:r>
            <a:r>
              <a:rPr lang="en-US" altLang="zh-CN"/>
              <a:t>，</a:t>
            </a:r>
            <a:r>
              <a:rPr lang="zh-CN" altLang="en-US"/>
              <a:t>不断地读取</a:t>
            </a:r>
            <a:r>
              <a:rPr lang="en-US" altLang="zh-CN"/>
              <a:t>TUN</a:t>
            </a:r>
            <a:r>
              <a:rPr lang="zh-CN" altLang="en-US"/>
              <a:t>里的包并且扔到</a:t>
            </a:r>
            <a:r>
              <a:rPr lang="en-US" altLang="zh-CN"/>
              <a:t>UDP，</a:t>
            </a:r>
            <a:r>
              <a:rPr lang="zh-CN" altLang="en-US"/>
              <a:t>另一个循环不断读</a:t>
            </a:r>
            <a:r>
              <a:rPr lang="en-US" altLang="zh-CN"/>
              <a:t>UDP</a:t>
            </a:r>
            <a:r>
              <a:rPr lang="zh-CN" altLang="en-US"/>
              <a:t>发到</a:t>
            </a:r>
            <a:r>
              <a:rPr lang="en-US" altLang="zh-CN"/>
              <a:t>TUN</a:t>
            </a:r>
            <a:r>
              <a:rPr lang="zh-CN" altLang="en-US"/>
              <a:t>里</a:t>
            </a:r>
            <a:r>
              <a:rPr lang="en-US" altLang="zh-CN"/>
              <a:t>。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790" y="2530475"/>
            <a:ext cx="5335905" cy="3999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服务端设计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295" y="1012825"/>
            <a:ext cx="8704580" cy="154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与客户端相同的部分掠过</a:t>
            </a:r>
            <a:r>
              <a:rPr lang="en-US" altLang="zh-CN"/>
              <a:t>。</a:t>
            </a:r>
            <a:r>
              <a:rPr lang="zh-CN" altLang="en-US"/>
              <a:t>服务端本质可以理解为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多终端的密钥</a:t>
            </a:r>
            <a:r>
              <a:rPr lang="zh-CN" altLang="en-US"/>
              <a:t>管理</a:t>
            </a:r>
            <a:endParaRPr lang="zh-CN" altLang="en-US"/>
          </a:p>
          <a:p>
            <a:r>
              <a:rPr lang="en-US" altLang="zh-CN"/>
              <a:t>2. （</a:t>
            </a:r>
            <a:r>
              <a:rPr lang="zh-CN" altLang="en-US"/>
              <a:t>可选</a:t>
            </a:r>
            <a:r>
              <a:rPr lang="en-US" altLang="zh-CN"/>
              <a:t>）</a:t>
            </a:r>
            <a:r>
              <a:rPr lang="zh-CN" altLang="en-US"/>
              <a:t>网关或转发</a:t>
            </a:r>
            <a:r>
              <a:rPr lang="zh-CN" altLang="en-US"/>
              <a:t>器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多终端会话</a:t>
            </a:r>
            <a:r>
              <a:rPr lang="zh-CN" altLang="en-US"/>
              <a:t>维持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路由</a:t>
            </a:r>
            <a:r>
              <a:rPr lang="zh-CN" altLang="en-US"/>
              <a:t>表</a:t>
            </a:r>
            <a:endParaRPr lang="zh-CN" altLang="en-US"/>
          </a:p>
          <a:p>
            <a:r>
              <a:rPr lang="zh-CN" altLang="en-US"/>
              <a:t>其余比如</a:t>
            </a:r>
            <a:r>
              <a:rPr lang="en-US" altLang="zh-CN"/>
              <a:t>TUN/UDP</a:t>
            </a:r>
            <a:r>
              <a:rPr lang="zh-CN" altLang="en-US"/>
              <a:t>逻辑和客户端完全一致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01295" y="2971165"/>
            <a:ext cx="8278495" cy="1428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 </a:t>
            </a:r>
            <a:r>
              <a:rPr lang="zh-CN" altLang="en-US"/>
              <a:t>转发</a:t>
            </a:r>
            <a:r>
              <a:rPr lang="zh-CN" altLang="en-US"/>
              <a:t>逻辑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" y="3298825"/>
            <a:ext cx="5618480" cy="33769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620" y="1104265"/>
            <a:ext cx="6342380" cy="25292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620" y="3633470"/>
            <a:ext cx="6134100" cy="2964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服务端设计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240790"/>
            <a:ext cx="5478780" cy="42437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1240790"/>
            <a:ext cx="5683250" cy="4321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服务端设计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295" y="1400175"/>
            <a:ext cx="6365875" cy="3884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2. </a:t>
            </a:r>
            <a:r>
              <a:rPr lang="zh-CN" altLang="en-US"/>
              <a:t>网关</a:t>
            </a:r>
            <a:r>
              <a:rPr lang="zh-CN" altLang="en-US"/>
              <a:t>模式</a:t>
            </a:r>
            <a:endParaRPr lang="zh-CN" altLang="en-US"/>
          </a:p>
          <a:p>
            <a:r>
              <a:rPr lang="zh-CN" altLang="en-US"/>
              <a:t>把与用户的</a:t>
            </a:r>
            <a:r>
              <a:rPr lang="en-US" altLang="zh-CN"/>
              <a:t>UDP</a:t>
            </a:r>
            <a:r>
              <a:rPr lang="zh-CN" altLang="en-US"/>
              <a:t>链接后面</a:t>
            </a:r>
            <a:r>
              <a:rPr lang="en-US" altLang="zh-CN"/>
              <a:t>，</a:t>
            </a:r>
            <a:r>
              <a:rPr lang="zh-CN" altLang="en-US"/>
              <a:t>再接一个</a:t>
            </a:r>
            <a:r>
              <a:rPr lang="en-US" altLang="zh-CN"/>
              <a:t>TUN</a:t>
            </a:r>
            <a:r>
              <a:rPr lang="zh-CN" altLang="en-US"/>
              <a:t>网卡</a:t>
            </a:r>
            <a:r>
              <a:rPr lang="en-US" altLang="zh-CN"/>
              <a:t>。</a:t>
            </a:r>
            <a:r>
              <a:rPr lang="zh-CN" altLang="en-US"/>
              <a:t>这样</a:t>
            </a:r>
            <a:r>
              <a:rPr lang="en-US" altLang="zh-CN"/>
              <a:t>，</a:t>
            </a:r>
            <a:r>
              <a:rPr lang="zh-CN" altLang="en-US"/>
              <a:t>就可以让客户端使用自己的互联网了</a:t>
            </a:r>
            <a:r>
              <a:rPr lang="en-US" altLang="zh-CN"/>
              <a:t>。</a:t>
            </a:r>
            <a:r>
              <a:rPr lang="zh-CN" altLang="en-US"/>
              <a:t>随后的部分和客户端一样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主要是自动配置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535" y="1012825"/>
            <a:ext cx="4787900" cy="35909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535" y="4603750"/>
            <a:ext cx="4749800" cy="14224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95" y="3033395"/>
            <a:ext cx="3152775" cy="5861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850" y="2934970"/>
            <a:ext cx="3153410" cy="6845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69715"/>
            <a:ext cx="5104130" cy="1656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0" spc="300" dirty="0">
                <a:latin typeface="黑体" panose="02010609060101010101" pitchFamily="49" charset="-122"/>
                <a:ea typeface="黑体" panose="02010609060101010101" pitchFamily="49" charset="-122"/>
              </a:rPr>
              <a:t>密码学</a:t>
            </a:r>
            <a:r>
              <a:rPr lang="zh-CN" altLang="en-US" sz="6000" spc="300" dirty="0"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对称加密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120" y="998220"/>
            <a:ext cx="6227445" cy="26981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8760" y="998220"/>
            <a:ext cx="5191125" cy="5655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 </a:t>
            </a:r>
            <a:r>
              <a:rPr lang="zh-CN" altLang="en-US"/>
              <a:t>对称加密</a:t>
            </a:r>
            <a:r>
              <a:rPr lang="zh-CN" altLang="en-US"/>
              <a:t>部分</a:t>
            </a:r>
            <a:endParaRPr lang="zh-CN" altLang="en-US"/>
          </a:p>
          <a:p>
            <a:r>
              <a:rPr lang="zh-CN" altLang="en-US"/>
              <a:t>对称加密就是我们熟知的</a:t>
            </a:r>
            <a:r>
              <a:rPr lang="en-US" altLang="zh-CN"/>
              <a:t>，</a:t>
            </a:r>
            <a:r>
              <a:rPr lang="zh-CN" altLang="en-US"/>
              <a:t>一个密码用来加密一些数据</a:t>
            </a:r>
            <a:r>
              <a:rPr lang="en-US" altLang="zh-CN"/>
              <a:t>，</a:t>
            </a:r>
            <a:r>
              <a:rPr lang="zh-CN" altLang="en-US"/>
              <a:t>同一个密码将其解密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这里选择加密每一个发出去的数据包</a:t>
            </a:r>
            <a:r>
              <a:rPr lang="en-US" altLang="zh-CN"/>
              <a:t>。</a:t>
            </a:r>
            <a:r>
              <a:rPr lang="zh-CN" altLang="en-US"/>
              <a:t>这当然需要很大的性能开销</a:t>
            </a:r>
            <a:r>
              <a:rPr lang="en-US" altLang="zh-CN"/>
              <a:t>，</a:t>
            </a:r>
            <a:r>
              <a:rPr lang="zh-CN" altLang="en-US"/>
              <a:t>所以我们用</a:t>
            </a:r>
            <a:r>
              <a:rPr lang="en-US" altLang="zh-CN"/>
              <a:t>ChaCha20-Poly1305</a:t>
            </a:r>
            <a:r>
              <a:rPr lang="zh-CN" altLang="en-US"/>
              <a:t>算法进行加密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这是一个与比较常见的</a:t>
            </a:r>
            <a:r>
              <a:rPr lang="en-US" altLang="zh-CN"/>
              <a:t>AES</a:t>
            </a:r>
            <a:r>
              <a:rPr lang="zh-CN" altLang="en-US"/>
              <a:t>并用的算法</a:t>
            </a:r>
            <a:r>
              <a:rPr lang="en-US" altLang="zh-CN"/>
              <a:t>，</a:t>
            </a:r>
            <a:r>
              <a:rPr lang="zh-CN" altLang="en-US"/>
              <a:t>主要优势是如果没有指令集加速</a:t>
            </a:r>
            <a:r>
              <a:rPr lang="en-US" altLang="zh-CN"/>
              <a:t>，</a:t>
            </a:r>
            <a:r>
              <a:rPr lang="zh-CN" altLang="en-US"/>
              <a:t>算得远比</a:t>
            </a:r>
            <a:r>
              <a:rPr lang="en-US" altLang="zh-CN"/>
              <a:t>aes</a:t>
            </a:r>
            <a:r>
              <a:rPr lang="zh-CN" altLang="en-US"/>
              <a:t>快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这个密钥怎么来的详见非对称加密部分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" y="3841115"/>
            <a:ext cx="4664710" cy="29133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530" y="3811270"/>
            <a:ext cx="4920615" cy="2930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非对称加密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2265" y="917575"/>
            <a:ext cx="11507470" cy="709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2. </a:t>
            </a:r>
            <a:r>
              <a:rPr lang="zh-CN" altLang="en-US"/>
              <a:t>对称加密需要一个密钥</a:t>
            </a:r>
            <a:r>
              <a:rPr lang="en-US" altLang="zh-CN"/>
              <a:t>，</a:t>
            </a:r>
            <a:r>
              <a:rPr lang="zh-CN" altLang="en-US"/>
              <a:t>但是怎么把这个密钥告知对方是一个困难的事情</a:t>
            </a:r>
            <a:r>
              <a:rPr lang="en-US" altLang="zh-CN"/>
              <a:t>。</a:t>
            </a:r>
            <a:r>
              <a:rPr lang="zh-CN" altLang="en-US"/>
              <a:t>我们显然不能在公网上明文传密钥</a:t>
            </a:r>
            <a:r>
              <a:rPr lang="en-US" altLang="zh-CN"/>
              <a:t>，</a:t>
            </a:r>
            <a:r>
              <a:rPr lang="zh-CN" altLang="en-US"/>
              <a:t>我们现在也没有任何的已加密通道可用</a:t>
            </a:r>
            <a:r>
              <a:rPr lang="en-US" altLang="zh-CN"/>
              <a:t>。</a:t>
            </a:r>
            <a:r>
              <a:rPr lang="zh-CN" altLang="en-US"/>
              <a:t>这里就用到了非对称加密的用途一</a:t>
            </a:r>
            <a:r>
              <a:rPr lang="en-US" altLang="zh-CN"/>
              <a:t>：</a:t>
            </a:r>
            <a:r>
              <a:rPr lang="zh-CN" altLang="en-US"/>
              <a:t>密钥封装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24485" y="1751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2.1 </a:t>
            </a:r>
            <a:r>
              <a:rPr lang="zh-CN" altLang="en-US"/>
              <a:t>椭圆曲线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2291080"/>
            <a:ext cx="4483100" cy="40005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690" y="2221865"/>
            <a:ext cx="6261100" cy="15621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203190" y="4043680"/>
            <a:ext cx="6645910" cy="1231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x25519</a:t>
            </a:r>
            <a:r>
              <a:rPr lang="zh-CN" altLang="en-US"/>
              <a:t>是一种极为成熟的非对称密钥交换算法</a:t>
            </a:r>
            <a:r>
              <a:rPr lang="en-US" altLang="zh-CN"/>
              <a:t>。</a:t>
            </a:r>
            <a:r>
              <a:rPr lang="zh-CN" altLang="en-US"/>
              <a:t>其使用椭圆曲线</a:t>
            </a:r>
            <a:r>
              <a:rPr lang="en-US" altLang="zh-CN"/>
              <a:t>Curve25519</a:t>
            </a:r>
            <a:r>
              <a:rPr lang="zh-CN" altLang="en-US"/>
              <a:t>来让通信的双方计算出相同的密钥来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同时</a:t>
            </a:r>
            <a:r>
              <a:rPr lang="en-US" altLang="zh-CN"/>
              <a:t>，</a:t>
            </a:r>
            <a:r>
              <a:rPr lang="zh-CN" altLang="en-US"/>
              <a:t>有非常多的实现可以直接调库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数字签名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2740" y="993775"/>
            <a:ext cx="11584940" cy="1656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4. </a:t>
            </a:r>
            <a:r>
              <a:rPr lang="zh-CN" altLang="en-US"/>
              <a:t>如果只用</a:t>
            </a:r>
            <a:r>
              <a:rPr lang="en-US" altLang="zh-CN"/>
              <a:t>PQC，</a:t>
            </a:r>
            <a:r>
              <a:rPr lang="zh-CN" altLang="en-US"/>
              <a:t>其实也不是不行</a:t>
            </a:r>
            <a:r>
              <a:rPr lang="en-US" altLang="zh-CN"/>
              <a:t>。</a:t>
            </a:r>
            <a:r>
              <a:rPr lang="zh-CN" altLang="en-US"/>
              <a:t>但是现在按常理来说</a:t>
            </a:r>
            <a:r>
              <a:rPr lang="en-US" altLang="zh-CN"/>
              <a:t>，</a:t>
            </a:r>
            <a:r>
              <a:rPr lang="zh-CN" altLang="en-US"/>
              <a:t>会启用“混合加密”的策略，在交换时同时交换传统非对称密钥和</a:t>
            </a:r>
            <a:r>
              <a:rPr lang="en-US" altLang="zh-CN"/>
              <a:t>PQC</a:t>
            </a:r>
            <a:r>
              <a:rPr lang="zh-CN" altLang="en-US"/>
              <a:t>密钥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" y="1917700"/>
            <a:ext cx="9116060" cy="200533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52780" y="4110355"/>
            <a:ext cx="9047480" cy="38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这是提供给</a:t>
            </a:r>
            <a:r>
              <a:rPr lang="en-US" altLang="zh-CN"/>
              <a:t>Chacha20-poly1305</a:t>
            </a:r>
            <a:r>
              <a:rPr lang="zh-CN" altLang="en-US"/>
              <a:t>的会话密钥</a:t>
            </a:r>
            <a:r>
              <a:rPr lang="en-US" altLang="zh-CN"/>
              <a:t>。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652780" y="4500245"/>
            <a:ext cx="3932555" cy="2005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KDF</a:t>
            </a:r>
            <a:r>
              <a:rPr lang="zh-CN" altLang="en-US"/>
              <a:t>是一个密钥派生函数</a:t>
            </a:r>
            <a:r>
              <a:rPr lang="en-US" altLang="zh-CN"/>
              <a:t>。</a:t>
            </a:r>
            <a:r>
              <a:rPr lang="zh-CN" altLang="en-US"/>
              <a:t>可以简单理解为一个高级哈希</a:t>
            </a:r>
            <a:r>
              <a:rPr lang="en-US" altLang="zh-CN"/>
              <a:t>，</a:t>
            </a:r>
            <a:r>
              <a:rPr lang="zh-CN" altLang="en-US"/>
              <a:t>输出长度可调</a:t>
            </a:r>
            <a:r>
              <a:rPr lang="en-US" altLang="zh-CN"/>
              <a:t>，</a:t>
            </a:r>
            <a:r>
              <a:rPr lang="zh-CN" altLang="en-US"/>
              <a:t>不管灌进去多长的</a:t>
            </a:r>
            <a:r>
              <a:rPr lang="en-US" altLang="zh-CN"/>
              <a:t>key，</a:t>
            </a:r>
            <a:r>
              <a:rPr lang="zh-CN" altLang="en-US"/>
              <a:t>输出的都是满足</a:t>
            </a:r>
            <a:r>
              <a:rPr lang="en-US" altLang="zh-CN">
                <a:sym typeface="+mn-ea"/>
              </a:rPr>
              <a:t>Chacha20-poly1305</a:t>
            </a:r>
            <a:r>
              <a:rPr lang="zh-CN" altLang="en-US">
                <a:sym typeface="+mn-ea"/>
              </a:rPr>
              <a:t>需要的长度</a:t>
            </a:r>
            <a:r>
              <a:rPr lang="en-US" altLang="zh-CN">
                <a:sym typeface="+mn-ea"/>
              </a:rPr>
              <a:t>。</a:t>
            </a:r>
            <a:endParaRPr lang="en-US" altLang="zh-CN"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120" y="2890520"/>
            <a:ext cx="3971925" cy="379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数字签名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2560" y="1012190"/>
            <a:ext cx="12029440" cy="758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5. </a:t>
            </a:r>
            <a:r>
              <a:rPr lang="zh-CN" altLang="en-US"/>
              <a:t>至此</a:t>
            </a:r>
            <a:r>
              <a:rPr lang="en-US" altLang="zh-CN"/>
              <a:t>，</a:t>
            </a:r>
            <a:r>
              <a:rPr lang="zh-CN" altLang="en-US"/>
              <a:t>密钥已经能非常安全地发过去了</a:t>
            </a:r>
            <a:r>
              <a:rPr lang="en-US" altLang="zh-CN"/>
              <a:t>。</a:t>
            </a:r>
            <a:r>
              <a:rPr lang="zh-CN" altLang="en-US"/>
              <a:t>但是</a:t>
            </a:r>
            <a:r>
              <a:rPr lang="en-US" altLang="zh-CN"/>
              <a:t>，</a:t>
            </a:r>
            <a:r>
              <a:rPr lang="zh-CN" altLang="en-US"/>
              <a:t>如果攻击者冒充服务器</a:t>
            </a:r>
            <a:r>
              <a:rPr lang="en-US" altLang="zh-CN"/>
              <a:t>，</a:t>
            </a:r>
            <a:r>
              <a:rPr lang="zh-CN" altLang="en-US"/>
              <a:t>跑相同的算法和协议，那么客户端也能和一个假服务器正确握手</a:t>
            </a:r>
            <a:r>
              <a:rPr lang="en-US" altLang="zh-CN"/>
              <a:t>。</a:t>
            </a:r>
            <a:r>
              <a:rPr lang="zh-CN" altLang="en-US"/>
              <a:t>所以我们需要数字签名来验证身份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" y="1991995"/>
            <a:ext cx="6756400" cy="40259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281545" y="1693545"/>
            <a:ext cx="4692015" cy="441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第一次运行服务端</a:t>
            </a:r>
            <a:r>
              <a:rPr lang="en-US" altLang="zh-CN"/>
              <a:t>（</a:t>
            </a:r>
            <a:r>
              <a:rPr lang="zh-CN" altLang="en-US"/>
              <a:t>或者没检测到</a:t>
            </a:r>
            <a:r>
              <a:rPr lang="en-US" altLang="zh-CN"/>
              <a:t>key），</a:t>
            </a:r>
            <a:r>
              <a:rPr lang="zh-CN" altLang="en-US"/>
              <a:t>服务端会自动生成</a:t>
            </a:r>
            <a:r>
              <a:rPr lang="en-US" altLang="zh-CN"/>
              <a:t>sk</a:t>
            </a:r>
            <a:r>
              <a:rPr lang="zh-CN" altLang="en-US"/>
              <a:t>和</a:t>
            </a:r>
            <a:r>
              <a:rPr lang="en-US" altLang="zh-CN"/>
              <a:t>pk，</a:t>
            </a:r>
            <a:r>
              <a:rPr lang="zh-CN" altLang="en-US"/>
              <a:t>然后需要手动把</a:t>
            </a:r>
            <a:r>
              <a:rPr lang="en-US" altLang="zh-CN"/>
              <a:t>pk</a:t>
            </a:r>
            <a:r>
              <a:rPr lang="zh-CN" altLang="en-US"/>
              <a:t>下载到本地</a:t>
            </a:r>
            <a:r>
              <a:rPr lang="en-US" altLang="zh-CN"/>
              <a:t>。</a:t>
            </a:r>
            <a:r>
              <a:rPr lang="zh-CN" altLang="en-US"/>
              <a:t>只有持有私钥的服务端才能有效签名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当然</a:t>
            </a:r>
            <a:r>
              <a:rPr lang="en-US" altLang="zh-CN"/>
              <a:t>，</a:t>
            </a:r>
            <a:r>
              <a:rPr lang="zh-CN" altLang="en-US"/>
              <a:t>这里会面临一个问题</a:t>
            </a:r>
            <a:r>
              <a:rPr lang="en-US" altLang="zh-CN"/>
              <a:t>：</a:t>
            </a:r>
            <a:r>
              <a:rPr lang="zh-CN" altLang="en-US"/>
              <a:t>我们该通过什么来安全地传送</a:t>
            </a:r>
            <a:r>
              <a:rPr lang="en-US" altLang="zh-CN"/>
              <a:t>pk，</a:t>
            </a:r>
            <a:r>
              <a:rPr lang="zh-CN" altLang="en-US"/>
              <a:t>来防止对客户端的中间人攻击</a:t>
            </a:r>
            <a:r>
              <a:rPr lang="en-US" altLang="zh-CN"/>
              <a:t>？</a:t>
            </a:r>
            <a:r>
              <a:rPr lang="zh-CN" altLang="en-US"/>
              <a:t>这个问题层层往上，现代互联网的解决方案是通过证书</a:t>
            </a:r>
            <a:r>
              <a:rPr lang="en-US" altLang="zh-CN"/>
              <a:t>，</a:t>
            </a:r>
            <a:r>
              <a:rPr lang="zh-CN" altLang="en-US"/>
              <a:t>本质上是一个长期公钥私钥对</a:t>
            </a:r>
            <a:r>
              <a:rPr lang="en-US" altLang="zh-CN"/>
              <a:t>，</a:t>
            </a:r>
            <a:r>
              <a:rPr lang="zh-CN" altLang="en-US"/>
              <a:t>然后向可信服务器发验证</a:t>
            </a:r>
            <a:r>
              <a:rPr lang="en-US" altLang="zh-CN"/>
              <a:t>。</a:t>
            </a:r>
            <a:r>
              <a:rPr lang="zh-CN" altLang="en-US"/>
              <a:t>当然我没有在这里实现</a:t>
            </a:r>
            <a:r>
              <a:rPr lang="en-US" altLang="zh-CN"/>
              <a:t>，</a:t>
            </a:r>
            <a:r>
              <a:rPr lang="zh-CN" altLang="en-US"/>
              <a:t>太复杂了</a:t>
            </a:r>
            <a:r>
              <a:rPr lang="en-US" altLang="zh-CN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数字签名用的算法是</a:t>
            </a:r>
            <a:r>
              <a:rPr lang="en-US" altLang="zh-CN"/>
              <a:t>ED25519，</a:t>
            </a:r>
            <a:r>
              <a:rPr lang="zh-CN" altLang="en-US"/>
              <a:t>不抗量子</a:t>
            </a:r>
            <a:r>
              <a:rPr lang="en-US" altLang="zh-CN"/>
              <a:t>。</a:t>
            </a:r>
            <a:r>
              <a:rPr lang="zh-CN" altLang="en-US"/>
              <a:t>当然也有</a:t>
            </a:r>
            <a:r>
              <a:rPr lang="en-US" altLang="zh-CN"/>
              <a:t>，</a:t>
            </a:r>
            <a:r>
              <a:rPr lang="zh-CN" altLang="en-US"/>
              <a:t>但是后量子签名的体积非常巨大</a:t>
            </a:r>
            <a:r>
              <a:rPr lang="en-US" altLang="zh-CN"/>
              <a:t>，</a:t>
            </a:r>
            <a:r>
              <a:rPr lang="zh-CN" altLang="en-US"/>
              <a:t>难以塞到一个</a:t>
            </a:r>
            <a:r>
              <a:rPr lang="en-US" altLang="zh-CN"/>
              <a:t>UDP</a:t>
            </a:r>
            <a:r>
              <a:rPr lang="zh-CN" altLang="en-US"/>
              <a:t>包里发完</a:t>
            </a:r>
            <a:r>
              <a:rPr lang="en-US" altLang="zh-CN"/>
              <a:t>，</a:t>
            </a:r>
            <a:r>
              <a:rPr lang="zh-CN" altLang="en-US"/>
              <a:t>如果需要</a:t>
            </a:r>
            <a:r>
              <a:rPr lang="en-US" altLang="zh-CN"/>
              <a:t>，</a:t>
            </a:r>
            <a:r>
              <a:rPr lang="zh-CN" altLang="en-US"/>
              <a:t>可以用</a:t>
            </a:r>
            <a:r>
              <a:rPr lang="en-US" altLang="zh-CN"/>
              <a:t>falcon</a:t>
            </a:r>
            <a:r>
              <a:rPr lang="zh-CN" altLang="en-US"/>
              <a:t>这种签名小的算法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000" spc="300" dirty="0">
                <a:latin typeface="黑体" panose="02010609060101010101" pitchFamily="49" charset="-122"/>
                <a:ea typeface="黑体" panose="02010609060101010101" pitchFamily="49" charset="-122"/>
              </a:rPr>
              <a:t>协议</a:t>
            </a:r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握手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" y="1014095"/>
            <a:ext cx="5887720" cy="54762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24930" y="1136015"/>
            <a:ext cx="5463540" cy="5476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握手信息数据结构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握手流程如下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110" y="170180"/>
            <a:ext cx="3220085" cy="6627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225" y="269240"/>
            <a:ext cx="41014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3F88"/>
                </a:solidFill>
              </a:rPr>
              <a:t>握手</a:t>
            </a:r>
            <a:r>
              <a:rPr lang="zh-CN" altLang="en-US" sz="2800" b="1" dirty="0">
                <a:solidFill>
                  <a:srgbClr val="003F88"/>
                </a:solidFill>
              </a:rPr>
              <a:t>实现</a:t>
            </a:r>
            <a:endParaRPr lang="zh-CN" altLang="en-US" sz="2800" b="1" dirty="0">
              <a:solidFill>
                <a:srgbClr val="003F88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" y="845185"/>
            <a:ext cx="3939540" cy="33159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690" y="845820"/>
            <a:ext cx="4896485" cy="33153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25" y="4038600"/>
            <a:ext cx="5819775" cy="2659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948069" y="2921168"/>
            <a:ext cx="829586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恳请老师同学批评指正</a:t>
            </a:r>
            <a:endParaRPr lang="en-US" altLang="zh-CN" sz="60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63933" y="5388248"/>
            <a:ext cx="2332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汇报人：</a:t>
            </a:r>
            <a:r>
              <a:rPr lang="zh-CN" altLang="en-US" sz="2400" b="1" dirty="0"/>
              <a:t>刘天豪</a:t>
            </a:r>
            <a:endParaRPr lang="zh-CN" altLang="en-US" sz="24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473389" y="5388248"/>
            <a:ext cx="404519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时间</a:t>
            </a:r>
            <a:r>
              <a:rPr lang="en-US" altLang="zh-CN" sz="2400" b="1" dirty="0"/>
              <a:t>：2025.12.30</a:t>
            </a:r>
            <a:endParaRPr lang="en-US" altLang="zh-CN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2364</Words>
  <Application>WPS 文字</Application>
  <PresentationFormat>宽屏</PresentationFormat>
  <Paragraphs>228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65" baseType="lpstr">
      <vt:lpstr>Arial</vt:lpstr>
      <vt:lpstr>宋体</vt:lpstr>
      <vt:lpstr>Wingdings</vt:lpstr>
      <vt:lpstr>黑体</vt:lpstr>
      <vt:lpstr>汉仪中黑KW</vt:lpstr>
      <vt:lpstr>Georgia</vt:lpstr>
      <vt:lpstr>Calibri</vt:lpstr>
      <vt:lpstr>汉仪瑞意宋X 75简</vt:lpstr>
      <vt:lpstr>汉仪书宋二KW</vt:lpstr>
      <vt:lpstr>汉仪润圆-45简</vt:lpstr>
      <vt:lpstr>Times New Roman</vt:lpstr>
      <vt:lpstr>等线</vt:lpstr>
      <vt:lpstr>等线</vt:lpstr>
      <vt:lpstr>楷体</vt:lpstr>
      <vt:lpstr>汉仪楷体KW</vt:lpstr>
      <vt:lpstr>仿宋</vt:lpstr>
      <vt:lpstr>Impact</vt:lpstr>
      <vt:lpstr>Helvetica Neue</vt:lpstr>
      <vt:lpstr>Cambria</vt:lpstr>
      <vt:lpstr>苹方-简</vt:lpstr>
      <vt:lpstr>微软雅黑</vt:lpstr>
      <vt:lpstr>汉仪旗黑</vt:lpstr>
      <vt:lpstr>字由点字典黑 75J</vt:lpstr>
      <vt:lpstr>汉仪中等线KW</vt:lpstr>
      <vt:lpstr>方正仿宋_GBK</vt:lpstr>
      <vt:lpstr>宋体</vt:lpstr>
      <vt:lpstr>Arial Unicode MS</vt:lpstr>
      <vt:lpstr>Wingdings</vt:lpstr>
      <vt:lpstr>仿宋</vt:lpstr>
      <vt:lpstr>字由点字典黑 75J</vt:lpstr>
      <vt:lpstr>微软雅黑</vt:lpstr>
      <vt:lpstr>楷体</vt:lpstr>
      <vt:lpstr>汉仪润圆-45简</vt:lpstr>
      <vt:lpstr>汉仪瑞意宋X 75简</vt:lpstr>
      <vt:lpstr>等线</vt:lpstr>
      <vt:lpstr>黑体</vt:lpstr>
      <vt:lpstr>Apple Color Emoji</vt:lpstr>
      <vt:lpstr>-apple-system</vt:lpstr>
      <vt:lpstr>mononoki</vt:lpstr>
      <vt:lpstr>Thonburi</vt:lpstr>
      <vt:lpstr>Menlo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</dc:creator>
  <cp:lastModifiedBy>lizyui</cp:lastModifiedBy>
  <cp:revision>43</cp:revision>
  <dcterms:created xsi:type="dcterms:W3CDTF">2025-12-29T16:48:41Z</dcterms:created>
  <dcterms:modified xsi:type="dcterms:W3CDTF">2025-12-29T16:48:41Z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E7D5D52BBDA3B2ECE9B05269AAF1B1CF_43</vt:lpwstr>
  </property>
</Properties>
</file>